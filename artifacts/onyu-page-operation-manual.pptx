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8813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63D2"/>
                </a:solidFill>
                <a:latin typeface="Malgun Gothic"/>
              </a:rPr>
              <a:t>LOCAL OPERATION GUIDE</a:t>
            </a:r>
          </a:p>
          <a:p>
            <a:r>
              <a:rPr sz="2600" b="1">
                <a:solidFill>
                  <a:srgbClr val="182135"/>
                </a:solidFill>
                <a:latin typeface="Malgun Gothic"/>
              </a:rPr>
              <a:t>온유네 Page 실행 / 재실행 매뉴얼</a:t>
            </a:r>
          </a:p>
          <a:p>
            <a:r>
              <a:rPr sz="1200">
                <a:solidFill>
                  <a:srgbClr val="627089"/>
                </a:solidFill>
                <a:latin typeface="Malgun Gothic"/>
              </a:rPr>
              <a:t>PC를 껐다 켠 뒤 다시 어떻게 실행하는지, 어떤 서비스는 계속 켜둬도 되는지 한 번에 정리한 안내서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5836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63D2"/>
                </a:solidFill>
                <a:latin typeface="Malgun Gothic"/>
              </a:defRPr>
            </a:pPr>
            <a:r>
              <a:t>핵심 요약</a:t>
            </a:r>
          </a:p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Malgun Gothic"/>
              </a:defRPr>
            </a:pPr>
            <a:r>
              <a:t>• Docker는 항상 켜둘 필요는 없지만, PostgreSQL 컨테이너를 쓰려면 Docker Desktop은 켜져 있어야 합니다.</a:t>
            </a:r>
          </a:p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Malgun Gothic"/>
              </a:defRPr>
            </a:pPr>
            <a:r>
              <a:t>• 백엔드와 프론트엔드는 개발 서버이므로 PC를 다시 켜면 직접 다시 실행해야 합니다.</a:t>
            </a:r>
          </a:p>
          <a:p>
            <a:pPr>
              <a:spcAft>
                <a:spcPts val="800"/>
              </a:spcAft>
              <a:defRPr sz="1600">
                <a:solidFill>
                  <a:srgbClr val="182135"/>
                </a:solidFill>
                <a:latin typeface="Malgun Gothic"/>
              </a:defRPr>
            </a:pPr>
            <a:r>
              <a:t>• Docker Compose의 PostgreSQL은 Docker Desktop만 올라오면 자동 재시작될 가능성이 높습니다. 현재 설정은 restart: unless-stopped 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83080"/>
            <a:ext cx="2560320" cy="315468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2011680"/>
            <a:ext cx="21488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135"/>
                </a:solidFill>
                <a:latin typeface="Malgun Gothic"/>
              </a:defRPr>
            </a:pPr>
            <a:r>
              <a:t>운영 포인트</a:t>
            </a:r>
          </a:p>
          <a:p>
            <a:pPr>
              <a:defRPr sz="1500">
                <a:solidFill>
                  <a:srgbClr val="4F63D2"/>
                </a:solidFill>
                <a:latin typeface="Malgun Gothic"/>
              </a:defRPr>
            </a:pPr>
            <a:r>
              <a:t>DB = Docker</a:t>
            </a:r>
          </a:p>
          <a:p>
            <a:pPr>
              <a:defRPr sz="1500">
                <a:solidFill>
                  <a:srgbClr val="4F63D2"/>
                </a:solidFill>
                <a:latin typeface="Malgun Gothic"/>
              </a:defRPr>
            </a:pPr>
            <a:r>
              <a:t>API = backend</a:t>
            </a:r>
          </a:p>
          <a:p>
            <a:pPr>
              <a:defRPr sz="1500">
                <a:solidFill>
                  <a:srgbClr val="4F63D2"/>
                </a:solidFill>
                <a:latin typeface="Malgun Gothic"/>
              </a:defRPr>
            </a:pPr>
            <a:r>
              <a:t>화면 = frontend</a:t>
            </a:r>
          </a:p>
          <a:p>
            <a:pPr>
              <a:defRPr sz="1500">
                <a:solidFill>
                  <a:srgbClr val="4F63D2"/>
                </a:solidFill>
                <a:latin typeface="Malgun Gothic"/>
              </a:defRPr>
            </a:pPr>
            <a:r>
              <a:t>브라우저 = localhost:5173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00800"/>
            <a:ext cx="10881360" cy="1828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7089"/>
                </a:solidFill>
                <a:latin typeface="Malgun Gothic"/>
              </a:defRPr>
            </a:pPr>
            <a:r>
              <a:t>온유네 Page 로컬 운영 매뉴얼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63D2"/>
                </a:solidFill>
                <a:latin typeface="Malgun Gothic"/>
              </a:rPr>
              <a:t>SERVICE MAP</a:t>
            </a:r>
          </a:p>
          <a:p>
            <a:r>
              <a:rPr sz="2600" b="1">
                <a:solidFill>
                  <a:srgbClr val="182135"/>
                </a:solidFill>
                <a:latin typeface="Malgun Gothic"/>
              </a:rPr>
              <a:t>무엇을 켜야 하는지 구조 이해</a:t>
            </a:r>
          </a:p>
          <a:p>
            <a:r>
              <a:rPr sz="1200">
                <a:solidFill>
                  <a:srgbClr val="627089"/>
                </a:solidFill>
                <a:latin typeface="Malgun Gothic"/>
              </a:rPr>
              <a:t>서비스마다 역할과 켜는 방식이 다릅니다.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19202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9728" cy="1920240"/>
          </a:xfrm>
          <a:prstGeom prst="rect">
            <a:avLst/>
          </a:prstGeom>
          <a:solidFill>
            <a:srgbClr val="4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Docker Desktop + PostgreSQL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데이터베이스 역할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항상 켜둘 필요는 없음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백엔드가 DB에 붙을 때 필요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Docker Desktop이 켜져 있으면 컨테이너 자동 재시작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74720" cy="19202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109728" cy="1920240"/>
          </a:xfrm>
          <a:prstGeom prst="rect">
            <a:avLst/>
          </a:prstGeom>
          <a:solidFill>
            <a:srgbClr val="3E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719072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Backend (Express + Prisma)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API 서버 역할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PC 재부팅 후 직접 다시 실행 필요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명령: npm.cmd run dev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경로: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74720" cy="192024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109728" cy="192024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19072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Frontend (React + Vite)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웹 화면 역할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PC 재부팅 후 직접 다시 실행 필요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명령: npm.cmd run dev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경로: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135"/>
                </a:solidFill>
                <a:latin typeface="Malgun Gothic"/>
              </a:defRPr>
            </a:pPr>
            <a:r>
              <a:t>결론</a:t>
            </a:r>
          </a:p>
          <a:p>
            <a:pPr>
              <a:spcAft>
                <a:spcPts val="700"/>
              </a:spcAft>
              <a:defRPr sz="1400">
                <a:solidFill>
                  <a:srgbClr val="182135"/>
                </a:solidFill>
                <a:latin typeface="Malgun Gothic"/>
              </a:defRPr>
            </a:pPr>
            <a:r>
              <a:t>• Docker는 꺼도 됩니다. 다만 다음에 작업할 때 Docker Desktop을 먼저 다시 켜면 됩니다.</a:t>
            </a:r>
          </a:p>
          <a:p>
            <a:pPr>
              <a:spcAft>
                <a:spcPts val="700"/>
              </a:spcAft>
              <a:defRPr sz="1400">
                <a:solidFill>
                  <a:srgbClr val="182135"/>
                </a:solidFill>
                <a:latin typeface="Malgun Gothic"/>
              </a:defRPr>
            </a:pPr>
            <a:r>
              <a:t>• 백엔드와 프론트엔드는 '개발 서버'라서 재부팅 후 자동으로 안 뜨는 것이 정상입니다.</a:t>
            </a:r>
          </a:p>
          <a:p>
            <a:pPr>
              <a:spcAft>
                <a:spcPts val="700"/>
              </a:spcAft>
              <a:defRPr sz="1400">
                <a:solidFill>
                  <a:srgbClr val="182135"/>
                </a:solidFill>
                <a:latin typeface="Malgun Gothic"/>
              </a:defRPr>
            </a:pPr>
            <a:r>
              <a:t>• 매번 필요한 것은 보통 3개입니다: Docker Desktop, backend dev server, frontend dev server.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00800"/>
            <a:ext cx="10881360" cy="1828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7089"/>
                </a:solidFill>
                <a:latin typeface="Malgun Gothic"/>
              </a:defRPr>
            </a:pPr>
            <a:r>
              <a:t>온유네 Page 로컬 운영 매뉴얼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63D2"/>
                </a:solidFill>
                <a:latin typeface="Malgun Gothic"/>
              </a:rPr>
              <a:t>AFTER REBOOT</a:t>
            </a:r>
          </a:p>
          <a:p>
            <a:r>
              <a:rPr sz="2600" b="1">
                <a:solidFill>
                  <a:srgbClr val="182135"/>
                </a:solidFill>
                <a:latin typeface="Malgun Gothic"/>
              </a:rPr>
              <a:t>PC를 껐다 켠 뒤 다시 실행하는 순서</a:t>
            </a:r>
          </a:p>
          <a:p>
            <a:r>
              <a:rPr sz="1200">
                <a:solidFill>
                  <a:srgbClr val="627089"/>
                </a:solidFill>
                <a:latin typeface="Malgun Gothic"/>
              </a:rPr>
              <a:t>가장 추천하는 표준 재실행 순서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4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536192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64208" y="1645920"/>
            <a:ext cx="4114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135"/>
                </a:solidFill>
                <a:latin typeface="Malgun Gothic"/>
              </a:defRPr>
            </a:pPr>
            <a:r>
              <a:t>Docker Desktop 실행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시작 메뉴에서 Docker Desktop 실행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고래 아이콘이 뜨고 Engine running 상태가 될 때까지 대기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554480"/>
            <a:ext cx="502920" cy="502920"/>
          </a:xfrm>
          <a:prstGeom prst="ellipse">
            <a:avLst/>
          </a:prstGeom>
          <a:solidFill>
            <a:srgbClr val="3E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5727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36192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645920"/>
            <a:ext cx="4114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135"/>
                </a:solidFill>
                <a:latin typeface="Malgun Gothic"/>
              </a:defRPr>
            </a:pPr>
            <a:r>
              <a:t>PostgreSQL 컨테이너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자동 시작 안 되었으면 프로젝트 루트에서 docker compose up -d 실행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이미 떠 있으면 그대로 사용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907792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3017520"/>
            <a:ext cx="4114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135"/>
                </a:solidFill>
                <a:latin typeface="Malgun Gothic"/>
              </a:defRPr>
            </a:pPr>
            <a:r>
              <a:t>백엔드 실행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backend 폴더로 이동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npm.cmd run dev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926080"/>
            <a:ext cx="502920" cy="502920"/>
          </a:xfrm>
          <a:prstGeom prst="ellipse">
            <a:avLst/>
          </a:prstGeom>
          <a:solidFill>
            <a:srgbClr val="4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907792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3017520"/>
            <a:ext cx="4114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135"/>
                </a:solidFill>
                <a:latin typeface="Malgun Gothic"/>
              </a:defRPr>
            </a:pPr>
            <a:r>
              <a:t>프론트엔드 실행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새 터미널에서 frontend 폴더로 이동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npm.cmd run dev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3E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159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279392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4389120"/>
            <a:ext cx="4114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135"/>
                </a:solidFill>
                <a:latin typeface="Malgun Gothic"/>
              </a:defRPr>
            </a:pPr>
            <a:r>
              <a:t>브라우저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http://localhost:5173 접속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일정 대시보드와 여행 페이지가 보이면 정상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0881360" cy="1828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7089"/>
                </a:solidFill>
                <a:latin typeface="Malgun Gothic"/>
              </a:defRPr>
            </a:pPr>
            <a:r>
              <a:t>온유네 Page 로컬 운영 매뉴얼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63D2"/>
                </a:solidFill>
                <a:latin typeface="Malgun Gothic"/>
              </a:rPr>
              <a:t>COMMANDS</a:t>
            </a:r>
          </a:p>
          <a:p>
            <a:r>
              <a:rPr sz="2600" b="1">
                <a:solidFill>
                  <a:srgbClr val="182135"/>
                </a:solidFill>
                <a:latin typeface="Malgun Gothic"/>
              </a:rPr>
              <a:t>복붙해서 쓰는 실행 명령어</a:t>
            </a:r>
          </a:p>
          <a:p>
            <a:r>
              <a:rPr sz="1200">
                <a:solidFill>
                  <a:srgbClr val="627089"/>
                </a:solidFill>
                <a:latin typeface="Malgun Gothic"/>
              </a:rPr>
              <a:t>필요할 때 그대로 붙여넣으면 되는 명령 모음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00784"/>
            <a:ext cx="1280160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F63D2"/>
                </a:solidFill>
                <a:latin typeface="Consolas"/>
              </a:rPr>
              <a:t>1. 루트 /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315468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135"/>
                </a:solidFill>
                <a:latin typeface="Consolas"/>
              </a:defRPr>
            </a:pPr>
            <a:r>
              <a:t>Set-Location "C:\Users\온유\Workspace\New project 2"</a:t>
            </a:r>
          </a:p>
          <a:p>
            <a:pPr>
              <a:defRPr sz="1300">
                <a:solidFill>
                  <a:srgbClr val="182135"/>
                </a:solidFill>
                <a:latin typeface="Consolas"/>
              </a:defRPr>
            </a:pPr>
            <a:r>
              <a:t>docker compose up -d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700784"/>
            <a:ext cx="1280160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190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F63D2"/>
                </a:solidFill>
                <a:latin typeface="Consolas"/>
              </a:rPr>
              <a:t>2. 백엔드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21408"/>
            <a:ext cx="315468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135"/>
                </a:solidFill>
                <a:latin typeface="Consolas"/>
              </a:defRPr>
            </a:pPr>
            <a:r>
              <a:t>Set-Location "C:\Users\온유\Workspace\New project 2\backend"</a:t>
            </a:r>
          </a:p>
          <a:p>
            <a:pPr>
              <a:defRPr sz="1300">
                <a:solidFill>
                  <a:srgbClr val="182135"/>
                </a:solidFill>
                <a:latin typeface="Consolas"/>
              </a:defRPr>
            </a:pPr>
            <a:r>
              <a:t>npm.cmd run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59" y="1700784"/>
            <a:ext cx="1280160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190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F63D2"/>
                </a:solidFill>
                <a:latin typeface="Consolas"/>
              </a:rPr>
              <a:t>3. 프론트엔드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21408"/>
            <a:ext cx="315468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135"/>
                </a:solidFill>
                <a:latin typeface="Consolas"/>
              </a:defRPr>
            </a:pPr>
            <a:r>
              <a:t>Set-Location "C:\Users\온유\Workspace\New project 2\frontend"</a:t>
            </a:r>
          </a:p>
          <a:p>
            <a:pPr>
              <a:defRPr sz="1300">
                <a:solidFill>
                  <a:srgbClr val="182135"/>
                </a:solidFill>
                <a:latin typeface="Consolas"/>
              </a:defRPr>
            </a:pPr>
            <a:r>
              <a:t>npm.cmd run 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94960"/>
            <a:ext cx="10515600" cy="64008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135"/>
                </a:solidFill>
                <a:latin typeface="Malgun Gothic"/>
              </a:defRPr>
            </a:pPr>
            <a:r>
              <a:t>팁: PowerShell에서 npm이 막히면 npm 대신 npm.cmd를 쓰면 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881360" cy="1828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7089"/>
                </a:solidFill>
                <a:latin typeface="Malgun Gothic"/>
              </a:defRPr>
            </a:pPr>
            <a:r>
              <a:t>온유네 Page 로컬 운영 매뉴얼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63D2"/>
                </a:solidFill>
                <a:latin typeface="Malgun Gothic"/>
              </a:rPr>
              <a:t>STOP OR KEEP RUNNING</a:t>
            </a:r>
          </a:p>
          <a:p>
            <a:r>
              <a:rPr sz="2600" b="1">
                <a:solidFill>
                  <a:srgbClr val="182135"/>
                </a:solidFill>
                <a:latin typeface="Malgun Gothic"/>
              </a:rPr>
              <a:t>평소에는 어떻게 두면 좋은가</a:t>
            </a:r>
          </a:p>
          <a:p>
            <a:r>
              <a:rPr sz="1200">
                <a:solidFill>
                  <a:srgbClr val="627089"/>
                </a:solidFill>
                <a:latin typeface="Malgun Gothic"/>
              </a:rPr>
              <a:t>자주 작업하는지에 따라 다르게 운영하면 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3108960"/>
          </a:xfrm>
          <a:prstGeom prst="rect">
            <a:avLst/>
          </a:prstGeom>
          <a:solidFill>
            <a:srgbClr val="3E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10512"/>
            <a:ext cx="48920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계속 작업할 때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Docker Desktop: 켜둬도 괜찮음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backend / frontend: 작업 중이면 계속 켜두면 편함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노트북 절전이나 재부팅 시 dev server는 다시 실행해야 할 수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31089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810512"/>
            <a:ext cx="48920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작업을 마칠 때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Docker Desktop: 꺼도 됨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backend / frontend 터미널: Ctrl + C로 종료 가능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나중에 다시 할 때는 Docker -&gt; backend -&gt; frontend 순서로 재실행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135"/>
                </a:solidFill>
                <a:latin typeface="Malgun Gothic"/>
              </a:defRPr>
            </a:pPr>
            <a:r>
              <a:t>권장 습관</a:t>
            </a:r>
          </a:p>
          <a:p>
            <a:pPr>
              <a:spcAft>
                <a:spcPts val="700"/>
              </a:spcAft>
              <a:defRPr sz="1400">
                <a:solidFill>
                  <a:srgbClr val="182135"/>
                </a:solidFill>
                <a:latin typeface="Malgun Gothic"/>
              </a:defRPr>
            </a:pPr>
            <a:r>
              <a:t>• 매일 계속 작업하지 않는다면 Docker를 늘 켜둘 필요는 없습니다.</a:t>
            </a:r>
          </a:p>
          <a:p>
            <a:pPr>
              <a:spcAft>
                <a:spcPts val="700"/>
              </a:spcAft>
              <a:defRPr sz="1400">
                <a:solidFill>
                  <a:srgbClr val="182135"/>
                </a:solidFill>
                <a:latin typeface="Malgun Gothic"/>
              </a:defRPr>
            </a:pPr>
            <a:r>
              <a:t>• 백엔드와 프론트엔드는 개발 서버라 작업 끝나면 끄는 쪽이 일반적입니다.</a:t>
            </a:r>
          </a:p>
          <a:p>
            <a:pPr>
              <a:spcAft>
                <a:spcPts val="700"/>
              </a:spcAft>
              <a:defRPr sz="1400">
                <a:solidFill>
                  <a:srgbClr val="182135"/>
                </a:solidFill>
                <a:latin typeface="Malgun Gothic"/>
              </a:defRPr>
            </a:pPr>
            <a:r>
              <a:t>• DB 데이터는 Docker 볼륨에 저장되므로 컨테이너를 다시 띄워도 보통 유지됩니다.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00800"/>
            <a:ext cx="10881360" cy="1828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7089"/>
                </a:solidFill>
                <a:latin typeface="Malgun Gothic"/>
              </a:defRPr>
            </a:pPr>
            <a:r>
              <a:t>온유네 Page 로컬 운영 매뉴얼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63D2"/>
                </a:solidFill>
                <a:latin typeface="Malgun Gothic"/>
              </a:rPr>
              <a:t>TROUBLESHOOTING</a:t>
            </a:r>
          </a:p>
          <a:p>
            <a:r>
              <a:rPr sz="2600" b="1">
                <a:solidFill>
                  <a:srgbClr val="182135"/>
                </a:solidFill>
                <a:latin typeface="Malgun Gothic"/>
              </a:rPr>
              <a:t>자주 생기는 문제와 빠른 해결</a:t>
            </a:r>
          </a:p>
          <a:p>
            <a:r>
              <a:rPr sz="1200">
                <a:solidFill>
                  <a:srgbClr val="627089"/>
                </a:solidFill>
                <a:latin typeface="Malgun Gothic"/>
              </a:rPr>
              <a:t>실제 실행 중 많이 마주치는 메시지 기준으로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1828800"/>
          </a:xfrm>
          <a:prstGeom prst="rect">
            <a:avLst/>
          </a:prstGeom>
          <a:solidFill>
            <a:srgbClr val="4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10512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docker 명령을 못 찾음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Docker Desktop 설치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새 PowerShell 다시 열기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docker version 으로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109728" cy="1828800"/>
          </a:xfrm>
          <a:prstGeom prst="rect">
            <a:avLst/>
          </a:prstGeom>
          <a:solidFill>
            <a:srgbClr val="3E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810512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docker engine 연결 실패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Docker Desktop 실행 여부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Engine running 상태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필요하면 Restart Docker Desktop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109728" cy="1828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10512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npm 실행 정책 오류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PowerShell에서는 npm.cmd 사용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예: npm.cmd run 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1645920"/>
          </a:xfrm>
          <a:prstGeom prst="roundRect">
            <a:avLst/>
          </a:prstGeom>
          <a:solidFill>
            <a:srgbClr val="FFF1F4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9728" cy="1645920"/>
          </a:xfrm>
          <a:prstGeom prst="rect">
            <a:avLst/>
          </a:prstGeom>
          <a:solidFill>
            <a:srgbClr val="C4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13631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Prisma DATABASE_URL 오류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루트 .env 와 backend/.env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DATABASE_URL 값이 있는지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120640" cy="1645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49039"/>
            <a:ext cx="109728" cy="1645920"/>
          </a:xfrm>
          <a:prstGeom prst="rect">
            <a:avLst/>
          </a:prstGeom>
          <a:solidFill>
            <a:srgbClr val="4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913631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82135"/>
                </a:solidFill>
                <a:latin typeface="Malgun Gothic"/>
              </a:defRPr>
            </a:pPr>
            <a:r>
              <a:t>접속 주소 확인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프론트: http://localhost:5173</a:t>
            </a:r>
          </a:p>
          <a:p>
            <a:pPr>
              <a:defRPr sz="1100">
                <a:solidFill>
                  <a:srgbClr val="627089"/>
                </a:solidFill>
                <a:latin typeface="Malgun Gothic"/>
              </a:defRPr>
            </a:pPr>
            <a:r>
              <a:t>백엔드: http://localhost:4000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00800"/>
            <a:ext cx="10881360" cy="1828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27089"/>
                </a:solidFill>
                <a:latin typeface="Malgun Gothic"/>
              </a:defRPr>
            </a:pPr>
            <a:r>
              <a:t>온유네 Page 로컬 운영 매뉴얼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